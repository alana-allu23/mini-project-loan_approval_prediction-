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256" r:id="rId2"/>
    <p:sldId id="257" r:id="rId3"/>
    <p:sldId id="258" r:id="rId4"/>
    <p:sldId id="261" r:id="rId5"/>
    <p:sldId id="263" r:id="rId6"/>
    <p:sldId id="264"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AF1A6-9BEE-45EF-B2BC-ADE5AD93199F}" type="datetimeFigureOut">
              <a:rPr lang="en-IN" smtClean="0"/>
              <a:t>27-05-2026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B1FFAE-9E1F-4690-8AAB-44F61583F4EF}" type="slidenum">
              <a:rPr lang="en-IN" smtClean="0"/>
              <a:t>‹#›</a:t>
            </a:fld>
            <a:endParaRPr lang="en-IN"/>
          </a:p>
        </p:txBody>
      </p:sp>
    </p:spTree>
    <p:extLst>
      <p:ext uri="{BB962C8B-B14F-4D97-AF65-F5344CB8AC3E}">
        <p14:creationId xmlns:p14="http://schemas.microsoft.com/office/powerpoint/2010/main" val="49727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B1FFAE-9E1F-4690-8AAB-44F61583F4EF}" type="slidenum">
              <a:rPr lang="en-IN" smtClean="0"/>
              <a:t>7</a:t>
            </a:fld>
            <a:endParaRPr lang="en-IN"/>
          </a:p>
        </p:txBody>
      </p:sp>
    </p:spTree>
    <p:extLst>
      <p:ext uri="{BB962C8B-B14F-4D97-AF65-F5344CB8AC3E}">
        <p14:creationId xmlns:p14="http://schemas.microsoft.com/office/powerpoint/2010/main" val="32199764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5/27/2026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5/27/2026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5/27/2026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5/27/2026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5/27/2026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5/27/2026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5/27/2026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0478C-211D-CF4A-AAE9-758A37FBE258}"/>
              </a:ext>
            </a:extLst>
          </p:cNvPr>
          <p:cNvSpPr>
            <a:spLocks noGrp="1"/>
          </p:cNvSpPr>
          <p:nvPr>
            <p:ph type="ctrTitle"/>
          </p:nvPr>
        </p:nvSpPr>
        <p:spPr>
          <a:xfrm>
            <a:off x="1154955" y="2099733"/>
            <a:ext cx="8825658" cy="1636525"/>
          </a:xfrm>
        </p:spPr>
        <p:txBody>
          <a:bodyPr/>
          <a:lstStyle/>
          <a:p>
            <a:r>
              <a:rPr lang="en-US" sz="3600" i="1" dirty="0"/>
              <a:t>Loan Approval Prediction Using Machine Learning: </a:t>
            </a:r>
            <a:br>
              <a:rPr lang="en-US" sz="3600" dirty="0"/>
            </a:br>
            <a:endParaRPr lang="en-IN" sz="2000" dirty="0"/>
          </a:p>
        </p:txBody>
      </p:sp>
      <p:sp>
        <p:nvSpPr>
          <p:cNvPr id="3" name="Subtitle 2">
            <a:extLst>
              <a:ext uri="{FF2B5EF4-FFF2-40B4-BE49-F238E27FC236}">
                <a16:creationId xmlns:a16="http://schemas.microsoft.com/office/drawing/2014/main" id="{4A2A60C9-4371-A178-18B5-A2E793E04DB8}"/>
              </a:ext>
            </a:extLst>
          </p:cNvPr>
          <p:cNvSpPr>
            <a:spLocks noGrp="1"/>
          </p:cNvSpPr>
          <p:nvPr>
            <p:ph type="subTitle" idx="1"/>
          </p:nvPr>
        </p:nvSpPr>
        <p:spPr>
          <a:xfrm>
            <a:off x="1337187" y="4413586"/>
            <a:ext cx="9243194" cy="861420"/>
          </a:xfrm>
        </p:spPr>
        <p:txBody>
          <a:bodyPr>
            <a:noAutofit/>
          </a:bodyPr>
          <a:lstStyle/>
          <a:p>
            <a:r>
              <a:rPr lang="en-US" sz="2000" dirty="0">
                <a:solidFill>
                  <a:schemeClr val="accent4">
                    <a:lumMod val="60000"/>
                    <a:lumOff val="40000"/>
                  </a:schemeClr>
                </a:solidFill>
              </a:rPr>
              <a:t>Name: ALANA –K</a:t>
            </a:r>
          </a:p>
          <a:p>
            <a:r>
              <a:rPr lang="en-US" sz="2000" dirty="0">
                <a:solidFill>
                  <a:schemeClr val="accent4">
                    <a:lumMod val="60000"/>
                    <a:lumOff val="40000"/>
                  </a:schemeClr>
                </a:solidFill>
              </a:rPr>
              <a:t>Organization: Entri Elevate </a:t>
            </a:r>
          </a:p>
          <a:p>
            <a:r>
              <a:rPr lang="en-US" sz="2000" dirty="0">
                <a:solidFill>
                  <a:schemeClr val="accent4">
                    <a:lumMod val="60000"/>
                    <a:lumOff val="40000"/>
                  </a:schemeClr>
                </a:solidFill>
              </a:rPr>
              <a:t>Date</a:t>
            </a:r>
            <a:r>
              <a:rPr lang="en-US" sz="2000">
                <a:solidFill>
                  <a:schemeClr val="accent4">
                    <a:lumMod val="60000"/>
                    <a:lumOff val="40000"/>
                  </a:schemeClr>
                </a:solidFill>
              </a:rPr>
              <a:t>: 27-05-2026 </a:t>
            </a:r>
            <a:endParaRPr lang="en-IN" sz="2000" dirty="0">
              <a:solidFill>
                <a:schemeClr val="accent4">
                  <a:lumMod val="60000"/>
                  <a:lumOff val="40000"/>
                </a:schemeClr>
              </a:solidFill>
            </a:endParaRPr>
          </a:p>
        </p:txBody>
      </p:sp>
    </p:spTree>
    <p:extLst>
      <p:ext uri="{BB962C8B-B14F-4D97-AF65-F5344CB8AC3E}">
        <p14:creationId xmlns:p14="http://schemas.microsoft.com/office/powerpoint/2010/main" val="2302577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1D2F-C2ED-613E-3E93-096F669CA1CF}"/>
              </a:ext>
            </a:extLst>
          </p:cNvPr>
          <p:cNvSpPr>
            <a:spLocks noGrp="1"/>
          </p:cNvSpPr>
          <p:nvPr>
            <p:ph type="title"/>
          </p:nvPr>
        </p:nvSpPr>
        <p:spPr/>
        <p:txBody>
          <a:bodyPr/>
          <a:lstStyle/>
          <a:p>
            <a:r>
              <a:rPr lang="en-US" dirty="0"/>
              <a:t> </a:t>
            </a:r>
            <a:r>
              <a:rPr lang="en-IN" dirty="0"/>
              <a:t>Introduction</a:t>
            </a:r>
          </a:p>
        </p:txBody>
      </p:sp>
      <p:sp>
        <p:nvSpPr>
          <p:cNvPr id="3" name="Content Placeholder 2">
            <a:extLst>
              <a:ext uri="{FF2B5EF4-FFF2-40B4-BE49-F238E27FC236}">
                <a16:creationId xmlns:a16="http://schemas.microsoft.com/office/drawing/2014/main" id="{761AF7D9-4686-552C-9B53-67278A82F114}"/>
              </a:ext>
            </a:extLst>
          </p:cNvPr>
          <p:cNvSpPr>
            <a:spLocks noGrp="1"/>
          </p:cNvSpPr>
          <p:nvPr>
            <p:ph idx="1"/>
          </p:nvPr>
        </p:nvSpPr>
        <p:spPr/>
        <p:txBody>
          <a:bodyPr/>
          <a:lstStyle/>
          <a:p>
            <a:r>
              <a:rPr lang="en-US" sz="1600" dirty="0">
                <a:latin typeface="Arial Rounded MT Bold" panose="020F0704030504030204" pitchFamily="34" charset="0"/>
              </a:rPr>
              <a:t>Loan approval is one of the most important processes in the banking and financial sector. Traditionally, loan approval decisions are made manually based on applicant details such as income, loan amount, credit score, employment status, and financial background.</a:t>
            </a:r>
          </a:p>
          <a:p>
            <a:r>
              <a:rPr lang="en-US" sz="1600" dirty="0">
                <a:latin typeface="Arial Rounded MT Bold" panose="020F0704030504030204" pitchFamily="34" charset="0"/>
              </a:rPr>
              <a:t>Manual loan verification can be time-consuming and may lead to errors or inconsistent decisions. Machine learning techniques can help automate the process and provide fast, accurate, and reliable predictions.</a:t>
            </a:r>
          </a:p>
          <a:p>
            <a:r>
              <a:rPr lang="en-US" sz="1600" dirty="0">
                <a:latin typeface="Arial Rounded MT Bold" panose="020F0704030504030204" pitchFamily="34" charset="0"/>
              </a:rPr>
              <a:t>The objective of this project is to build a machine learning model that predicts whether a loan application will be approved or rejected using applicant data.</a:t>
            </a:r>
          </a:p>
          <a:p>
            <a:endParaRPr lang="en-IN" dirty="0"/>
          </a:p>
        </p:txBody>
      </p:sp>
    </p:spTree>
    <p:extLst>
      <p:ext uri="{BB962C8B-B14F-4D97-AF65-F5344CB8AC3E}">
        <p14:creationId xmlns:p14="http://schemas.microsoft.com/office/powerpoint/2010/main" val="1023493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D108F-7E95-1443-E33F-A7A97BBF9BB3}"/>
              </a:ext>
            </a:extLst>
          </p:cNvPr>
          <p:cNvSpPr>
            <a:spLocks noGrp="1"/>
          </p:cNvSpPr>
          <p:nvPr>
            <p:ph type="title"/>
          </p:nvPr>
        </p:nvSpPr>
        <p:spPr/>
        <p:txBody>
          <a:bodyPr/>
          <a:lstStyle/>
          <a:p>
            <a:r>
              <a:rPr lang="en-IN" dirty="0"/>
              <a:t>2. Objectives:</a:t>
            </a:r>
          </a:p>
        </p:txBody>
      </p:sp>
      <p:sp>
        <p:nvSpPr>
          <p:cNvPr id="3" name="Content Placeholder 2">
            <a:extLst>
              <a:ext uri="{FF2B5EF4-FFF2-40B4-BE49-F238E27FC236}">
                <a16:creationId xmlns:a16="http://schemas.microsoft.com/office/drawing/2014/main" id="{EE9D9800-F2D9-29D0-09D6-DF90E4A1C4D5}"/>
              </a:ext>
            </a:extLst>
          </p:cNvPr>
          <p:cNvSpPr>
            <a:spLocks noGrp="1"/>
          </p:cNvSpPr>
          <p:nvPr>
            <p:ph idx="1"/>
          </p:nvPr>
        </p:nvSpPr>
        <p:spPr/>
        <p:txBody>
          <a:bodyPr>
            <a:normAutofit/>
          </a:bodyPr>
          <a:lstStyle/>
          <a:p>
            <a:r>
              <a:rPr lang="en-US" dirty="0">
                <a:latin typeface="Arial Rounded MT Bold" panose="020F0704030504030204" pitchFamily="34" charset="0"/>
              </a:rPr>
              <a:t>The main objectives of the project are: </a:t>
            </a:r>
          </a:p>
          <a:p>
            <a:r>
              <a:rPr lang="en-US" dirty="0">
                <a:latin typeface="Arial Rounded MT Bold" panose="020F0704030504030204" pitchFamily="34" charset="0"/>
              </a:rPr>
              <a:t>• To analyze the loan approval dataset. </a:t>
            </a:r>
          </a:p>
          <a:p>
            <a:r>
              <a:rPr lang="en-US" dirty="0">
                <a:latin typeface="Arial Rounded MT Bold" panose="020F0704030504030204" pitchFamily="34" charset="0"/>
              </a:rPr>
              <a:t>• To preprocess and clean the data. </a:t>
            </a:r>
          </a:p>
          <a:p>
            <a:r>
              <a:rPr lang="en-US" dirty="0">
                <a:latin typeface="Arial Rounded MT Bold" panose="020F0704030504030204" pitchFamily="34" charset="0"/>
              </a:rPr>
              <a:t>• To perform Exploratory Data Analysis (EDA)</a:t>
            </a:r>
          </a:p>
          <a:p>
            <a:r>
              <a:rPr lang="en-US" dirty="0">
                <a:latin typeface="Arial Rounded MT Bold" panose="020F0704030504030204" pitchFamily="34" charset="0"/>
              </a:rPr>
              <a:t>. • To train multiple machine learning models. </a:t>
            </a:r>
          </a:p>
          <a:p>
            <a:r>
              <a:rPr lang="en-US" dirty="0">
                <a:latin typeface="Arial Rounded MT Bold" panose="020F0704030504030204" pitchFamily="34" charset="0"/>
              </a:rPr>
              <a:t>• To compare model performances.</a:t>
            </a:r>
          </a:p>
          <a:p>
            <a:r>
              <a:rPr lang="en-US" dirty="0">
                <a:latin typeface="Arial Rounded MT Bold" panose="020F0704030504030204" pitchFamily="34" charset="0"/>
              </a:rPr>
              <a:t> • To identify the best-performing model. </a:t>
            </a:r>
          </a:p>
          <a:p>
            <a:pPr lvl="2"/>
            <a:endParaRPr lang="en-IN" dirty="0"/>
          </a:p>
        </p:txBody>
      </p:sp>
    </p:spTree>
    <p:extLst>
      <p:ext uri="{BB962C8B-B14F-4D97-AF65-F5344CB8AC3E}">
        <p14:creationId xmlns:p14="http://schemas.microsoft.com/office/powerpoint/2010/main" val="464026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6FC6C-1718-9EAC-0FF3-B94D39279F70}"/>
              </a:ext>
            </a:extLst>
          </p:cNvPr>
          <p:cNvSpPr>
            <a:spLocks noGrp="1"/>
          </p:cNvSpPr>
          <p:nvPr>
            <p:ph type="title"/>
          </p:nvPr>
        </p:nvSpPr>
        <p:spPr/>
        <p:txBody>
          <a:bodyPr/>
          <a:lstStyle/>
          <a:p>
            <a:r>
              <a:rPr lang="en-IN" dirty="0"/>
              <a:t>3 .System Requirements </a:t>
            </a:r>
          </a:p>
        </p:txBody>
      </p:sp>
      <p:sp>
        <p:nvSpPr>
          <p:cNvPr id="3" name="Content Placeholder 2">
            <a:extLst>
              <a:ext uri="{FF2B5EF4-FFF2-40B4-BE49-F238E27FC236}">
                <a16:creationId xmlns:a16="http://schemas.microsoft.com/office/drawing/2014/main" id="{F0A26E75-FD26-C709-DDCB-012801848B74}"/>
              </a:ext>
            </a:extLst>
          </p:cNvPr>
          <p:cNvSpPr>
            <a:spLocks noGrp="1"/>
          </p:cNvSpPr>
          <p:nvPr>
            <p:ph sz="half" idx="1"/>
          </p:nvPr>
        </p:nvSpPr>
        <p:spPr/>
        <p:txBody>
          <a:bodyPr/>
          <a:lstStyle/>
          <a:p>
            <a:r>
              <a:rPr lang="en-US" dirty="0"/>
              <a:t>Hardware Requirements</a:t>
            </a:r>
          </a:p>
          <a:p>
            <a:r>
              <a:rPr lang="en-US" dirty="0"/>
              <a:t> • Processor: Intel i3 or above </a:t>
            </a:r>
          </a:p>
          <a:p>
            <a:r>
              <a:rPr lang="en-US" dirty="0"/>
              <a:t>• RAM: Minimum 4 GB </a:t>
            </a:r>
          </a:p>
          <a:p>
            <a:r>
              <a:rPr lang="en-US" dirty="0"/>
              <a:t>• Storage: Minimum 10 GB free space </a:t>
            </a:r>
            <a:endParaRPr lang="en-IN" dirty="0"/>
          </a:p>
        </p:txBody>
      </p:sp>
      <p:sp>
        <p:nvSpPr>
          <p:cNvPr id="4" name="Content Placeholder 3">
            <a:extLst>
              <a:ext uri="{FF2B5EF4-FFF2-40B4-BE49-F238E27FC236}">
                <a16:creationId xmlns:a16="http://schemas.microsoft.com/office/drawing/2014/main" id="{CE6823E0-D093-042D-7C36-EC77F8B0412C}"/>
              </a:ext>
            </a:extLst>
          </p:cNvPr>
          <p:cNvSpPr>
            <a:spLocks noGrp="1"/>
          </p:cNvSpPr>
          <p:nvPr>
            <p:ph sz="half" idx="2"/>
          </p:nvPr>
        </p:nvSpPr>
        <p:spPr/>
        <p:txBody>
          <a:bodyPr/>
          <a:lstStyle/>
          <a:p>
            <a:r>
              <a:rPr lang="en-IN" dirty="0"/>
              <a:t>Software Requirements </a:t>
            </a:r>
          </a:p>
          <a:p>
            <a:r>
              <a:rPr lang="en-IN" dirty="0"/>
              <a:t>• Python 3.x </a:t>
            </a:r>
          </a:p>
          <a:p>
            <a:r>
              <a:rPr lang="en-IN" dirty="0"/>
              <a:t>• Google </a:t>
            </a:r>
            <a:r>
              <a:rPr lang="en-IN" dirty="0" err="1"/>
              <a:t>Colab</a:t>
            </a:r>
            <a:r>
              <a:rPr lang="en-IN" dirty="0"/>
              <a:t> </a:t>
            </a:r>
          </a:p>
          <a:p>
            <a:r>
              <a:rPr lang="en-IN" dirty="0"/>
              <a:t>• Pandas </a:t>
            </a:r>
          </a:p>
          <a:p>
            <a:r>
              <a:rPr lang="en-IN" dirty="0"/>
              <a:t>• NumPy 9</a:t>
            </a:r>
          </a:p>
          <a:p>
            <a:r>
              <a:rPr lang="en-IN" dirty="0"/>
              <a:t>• Matplotlib </a:t>
            </a:r>
          </a:p>
          <a:p>
            <a:r>
              <a:rPr lang="en-IN" dirty="0"/>
              <a:t>• Seaborn </a:t>
            </a:r>
          </a:p>
          <a:p>
            <a:r>
              <a:rPr lang="en-IN" dirty="0"/>
              <a:t>• Scikit-learn</a:t>
            </a:r>
          </a:p>
        </p:txBody>
      </p:sp>
    </p:spTree>
    <p:extLst>
      <p:ext uri="{BB962C8B-B14F-4D97-AF65-F5344CB8AC3E}">
        <p14:creationId xmlns:p14="http://schemas.microsoft.com/office/powerpoint/2010/main" val="3228863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7A10F-D2B7-75E2-1074-A7FC6AAB75AA}"/>
              </a:ext>
            </a:extLst>
          </p:cNvPr>
          <p:cNvSpPr>
            <a:spLocks noGrp="1"/>
          </p:cNvSpPr>
          <p:nvPr>
            <p:ph type="title"/>
          </p:nvPr>
        </p:nvSpPr>
        <p:spPr/>
        <p:txBody>
          <a:bodyPr/>
          <a:lstStyle/>
          <a:p>
            <a:r>
              <a:rPr lang="en-IN" dirty="0"/>
              <a:t>4. Dataset Description : </a:t>
            </a:r>
          </a:p>
        </p:txBody>
      </p:sp>
      <p:sp>
        <p:nvSpPr>
          <p:cNvPr id="3" name="Content Placeholder 2">
            <a:extLst>
              <a:ext uri="{FF2B5EF4-FFF2-40B4-BE49-F238E27FC236}">
                <a16:creationId xmlns:a16="http://schemas.microsoft.com/office/drawing/2014/main" id="{62A0CA57-1063-242E-E139-C4FE6EBDEE0C}"/>
              </a:ext>
            </a:extLst>
          </p:cNvPr>
          <p:cNvSpPr>
            <a:spLocks noGrp="1"/>
          </p:cNvSpPr>
          <p:nvPr>
            <p:ph idx="1"/>
          </p:nvPr>
        </p:nvSpPr>
        <p:spPr>
          <a:xfrm>
            <a:off x="1154954" y="2468032"/>
            <a:ext cx="8825659" cy="4217903"/>
          </a:xfrm>
        </p:spPr>
        <p:txBody>
          <a:bodyPr>
            <a:normAutofit lnSpcReduction="10000"/>
          </a:bodyPr>
          <a:lstStyle/>
          <a:p>
            <a:r>
              <a:rPr lang="en-IN" dirty="0"/>
              <a:t>Dataset Features : </a:t>
            </a:r>
          </a:p>
          <a:p>
            <a:r>
              <a:rPr lang="en-IN" dirty="0">
                <a:latin typeface="Arial Rounded MT Bold" panose="020F0704030504030204" pitchFamily="34" charset="0"/>
              </a:rPr>
              <a:t>Feature Name         Description </a:t>
            </a:r>
          </a:p>
          <a:p>
            <a:r>
              <a:rPr lang="en-IN" dirty="0" err="1"/>
              <a:t>income_annum</a:t>
            </a:r>
            <a:r>
              <a:rPr lang="en-IN" dirty="0"/>
              <a:t> = Annual income </a:t>
            </a:r>
          </a:p>
          <a:p>
            <a:r>
              <a:rPr lang="en-IN" dirty="0" err="1"/>
              <a:t>loan_amount</a:t>
            </a:r>
            <a:r>
              <a:rPr lang="en-IN" dirty="0"/>
              <a:t> = Requested loan amount</a:t>
            </a:r>
          </a:p>
          <a:p>
            <a:r>
              <a:rPr lang="en-IN" dirty="0"/>
              <a:t> </a:t>
            </a:r>
            <a:r>
              <a:rPr lang="en-IN" dirty="0" err="1"/>
              <a:t>loan_term</a:t>
            </a:r>
            <a:r>
              <a:rPr lang="en-IN" dirty="0"/>
              <a:t> = Loan duration </a:t>
            </a:r>
          </a:p>
          <a:p>
            <a:r>
              <a:rPr lang="en-IN" dirty="0" err="1"/>
              <a:t>cibil_score</a:t>
            </a:r>
            <a:r>
              <a:rPr lang="en-IN" dirty="0"/>
              <a:t> =Applicant credit score</a:t>
            </a:r>
          </a:p>
          <a:p>
            <a:r>
              <a:rPr lang="en-IN" dirty="0"/>
              <a:t> </a:t>
            </a:r>
            <a:r>
              <a:rPr lang="en-IN" dirty="0" err="1"/>
              <a:t>residential_assets_value</a:t>
            </a:r>
            <a:r>
              <a:rPr lang="en-IN" dirty="0"/>
              <a:t> =Residential asset value</a:t>
            </a:r>
          </a:p>
          <a:p>
            <a:r>
              <a:rPr lang="en-IN" dirty="0"/>
              <a:t> </a:t>
            </a:r>
            <a:r>
              <a:rPr lang="en-IN" dirty="0" err="1"/>
              <a:t>commercial_assets_value</a:t>
            </a:r>
            <a:r>
              <a:rPr lang="en-IN" dirty="0"/>
              <a:t> =Commercial asset value </a:t>
            </a:r>
          </a:p>
          <a:p>
            <a:pPr marL="0" indent="0">
              <a:buNone/>
            </a:pPr>
            <a:r>
              <a:rPr lang="en-IN" dirty="0"/>
              <a:t>       </a:t>
            </a:r>
            <a:r>
              <a:rPr lang="en-IN" dirty="0" err="1"/>
              <a:t>Luxury_assets_value</a:t>
            </a:r>
            <a:r>
              <a:rPr lang="en-IN" dirty="0"/>
              <a:t> =Luxury asset value </a:t>
            </a:r>
          </a:p>
          <a:p>
            <a:pPr marL="0" indent="0">
              <a:buNone/>
            </a:pPr>
            <a:r>
              <a:rPr lang="en-IN" dirty="0"/>
              <a:t>       </a:t>
            </a:r>
            <a:r>
              <a:rPr lang="en-IN" dirty="0" err="1"/>
              <a:t>bank_asset_value</a:t>
            </a:r>
            <a:r>
              <a:rPr lang="en-IN" dirty="0"/>
              <a:t> =Bank asset value</a:t>
            </a:r>
          </a:p>
          <a:p>
            <a:pPr marL="0" indent="0">
              <a:buNone/>
            </a:pPr>
            <a:r>
              <a:rPr lang="en-IN" dirty="0"/>
              <a:t>       </a:t>
            </a:r>
            <a:r>
              <a:rPr lang="en-IN" dirty="0" err="1"/>
              <a:t>loan_status</a:t>
            </a:r>
            <a:r>
              <a:rPr lang="en-IN" dirty="0"/>
              <a:t> =Approved or Rejected</a:t>
            </a:r>
          </a:p>
        </p:txBody>
      </p:sp>
    </p:spTree>
    <p:extLst>
      <p:ext uri="{BB962C8B-B14F-4D97-AF65-F5344CB8AC3E}">
        <p14:creationId xmlns:p14="http://schemas.microsoft.com/office/powerpoint/2010/main" val="1885310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30AB8-BC9C-4615-E894-C0BC3EBA50F8}"/>
              </a:ext>
            </a:extLst>
          </p:cNvPr>
          <p:cNvSpPr>
            <a:spLocks noGrp="1"/>
          </p:cNvSpPr>
          <p:nvPr>
            <p:ph type="title"/>
          </p:nvPr>
        </p:nvSpPr>
        <p:spPr/>
        <p:txBody>
          <a:bodyPr/>
          <a:lstStyle/>
          <a:p>
            <a:r>
              <a:rPr lang="en-IN" dirty="0"/>
              <a:t>5. Technologies Used </a:t>
            </a:r>
          </a:p>
        </p:txBody>
      </p:sp>
      <p:sp>
        <p:nvSpPr>
          <p:cNvPr id="3" name="Content Placeholder 2">
            <a:extLst>
              <a:ext uri="{FF2B5EF4-FFF2-40B4-BE49-F238E27FC236}">
                <a16:creationId xmlns:a16="http://schemas.microsoft.com/office/drawing/2014/main" id="{99F73672-4F74-FA5F-0DD8-43357ABC51A5}"/>
              </a:ext>
            </a:extLst>
          </p:cNvPr>
          <p:cNvSpPr>
            <a:spLocks noGrp="1"/>
          </p:cNvSpPr>
          <p:nvPr>
            <p:ph idx="1"/>
          </p:nvPr>
        </p:nvSpPr>
        <p:spPr/>
        <p:txBody>
          <a:bodyPr/>
          <a:lstStyle/>
          <a:p>
            <a:r>
              <a:rPr lang="en-IN" dirty="0"/>
              <a:t>Python = Programming language</a:t>
            </a:r>
          </a:p>
          <a:p>
            <a:r>
              <a:rPr lang="en-IN" dirty="0"/>
              <a:t> Pandas =Data manipulation </a:t>
            </a:r>
          </a:p>
          <a:p>
            <a:r>
              <a:rPr lang="en-IN" dirty="0"/>
              <a:t> NumPy =Numerical operations</a:t>
            </a:r>
          </a:p>
          <a:p>
            <a:r>
              <a:rPr lang="en-IN" dirty="0"/>
              <a:t> Matplotlib =Data visualization</a:t>
            </a:r>
          </a:p>
          <a:p>
            <a:r>
              <a:rPr lang="en-IN" dirty="0"/>
              <a:t> Seaborn =Statistical visualization </a:t>
            </a:r>
          </a:p>
          <a:p>
            <a:r>
              <a:rPr lang="en-IN" dirty="0"/>
              <a:t>Scikit-learn =Machine learning algorithms </a:t>
            </a:r>
          </a:p>
          <a:p>
            <a:r>
              <a:rPr lang="en-IN" dirty="0"/>
              <a:t>Pickle =Model saving/loading </a:t>
            </a:r>
          </a:p>
          <a:p>
            <a:r>
              <a:rPr lang="en-IN" dirty="0"/>
              <a:t>Google </a:t>
            </a:r>
            <a:r>
              <a:rPr lang="en-IN" dirty="0" err="1"/>
              <a:t>Colab</a:t>
            </a:r>
            <a:r>
              <a:rPr lang="en-IN" dirty="0"/>
              <a:t> =Development Environment</a:t>
            </a:r>
          </a:p>
        </p:txBody>
      </p:sp>
    </p:spTree>
    <p:extLst>
      <p:ext uri="{BB962C8B-B14F-4D97-AF65-F5344CB8AC3E}">
        <p14:creationId xmlns:p14="http://schemas.microsoft.com/office/powerpoint/2010/main" val="1027301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363D-4270-B102-1FD9-8B474B6F511F}"/>
              </a:ext>
            </a:extLst>
          </p:cNvPr>
          <p:cNvSpPr>
            <a:spLocks noGrp="1"/>
          </p:cNvSpPr>
          <p:nvPr>
            <p:ph type="title"/>
          </p:nvPr>
        </p:nvSpPr>
        <p:spPr/>
        <p:txBody>
          <a:bodyPr/>
          <a:lstStyle/>
          <a:p>
            <a:r>
              <a:rPr lang="en-IN" dirty="0"/>
              <a:t>6. Data Preprocessing </a:t>
            </a:r>
          </a:p>
        </p:txBody>
      </p:sp>
      <p:sp>
        <p:nvSpPr>
          <p:cNvPr id="3" name="Content Placeholder 2">
            <a:extLst>
              <a:ext uri="{FF2B5EF4-FFF2-40B4-BE49-F238E27FC236}">
                <a16:creationId xmlns:a16="http://schemas.microsoft.com/office/drawing/2014/main" id="{341B56C9-D1B6-ED2B-37A1-C7DE1F603A95}"/>
              </a:ext>
            </a:extLst>
          </p:cNvPr>
          <p:cNvSpPr>
            <a:spLocks noGrp="1"/>
          </p:cNvSpPr>
          <p:nvPr>
            <p:ph idx="1"/>
          </p:nvPr>
        </p:nvSpPr>
        <p:spPr/>
        <p:txBody>
          <a:bodyPr>
            <a:normAutofit lnSpcReduction="10000"/>
          </a:bodyPr>
          <a:lstStyle/>
          <a:p>
            <a:r>
              <a:rPr lang="en-US" dirty="0"/>
              <a:t>Data preprocessing was performed to clean and prepare the dataset for machine learning.</a:t>
            </a:r>
          </a:p>
          <a:p>
            <a:r>
              <a:rPr lang="en-IN" dirty="0"/>
              <a:t>Steps Performed:</a:t>
            </a:r>
          </a:p>
          <a:p>
            <a:r>
              <a:rPr lang="en-US" dirty="0">
                <a:latin typeface="Arial Rounded MT Bold" panose="020F0704030504030204" pitchFamily="34" charset="0"/>
              </a:rPr>
              <a:t>6.1 Importing Dataset </a:t>
            </a:r>
          </a:p>
          <a:p>
            <a:r>
              <a:rPr lang="en-US" dirty="0">
                <a:latin typeface="Arial Rounded MT Bold" panose="020F0704030504030204" pitchFamily="34" charset="0"/>
              </a:rPr>
              <a:t>6.2 Checking Missing Values</a:t>
            </a:r>
          </a:p>
          <a:p>
            <a:r>
              <a:rPr lang="en-US" dirty="0">
                <a:latin typeface="Arial Rounded MT Bold" panose="020F0704030504030204" pitchFamily="34" charset="0"/>
              </a:rPr>
              <a:t>6</a:t>
            </a:r>
            <a:r>
              <a:rPr lang="en-IN" dirty="0">
                <a:latin typeface="Arial Rounded MT Bold" panose="020F0704030504030204" pitchFamily="34" charset="0"/>
              </a:rPr>
              <a:t>.3 Checking Duplicate Values </a:t>
            </a:r>
          </a:p>
          <a:p>
            <a:r>
              <a:rPr lang="en-IN" dirty="0">
                <a:latin typeface="Arial Rounded MT Bold" panose="020F0704030504030204" pitchFamily="34" charset="0"/>
              </a:rPr>
              <a:t>6.4 Handling Column Names </a:t>
            </a:r>
          </a:p>
          <a:p>
            <a:r>
              <a:rPr lang="en-IN" dirty="0">
                <a:latin typeface="Arial Rounded MT Bold" panose="020F0704030504030204" pitchFamily="34" charset="0"/>
              </a:rPr>
              <a:t>6.5 Label Encoding </a:t>
            </a:r>
          </a:p>
          <a:p>
            <a:r>
              <a:rPr lang="en-IN" dirty="0">
                <a:latin typeface="Arial Rounded MT Bold" panose="020F0704030504030204" pitchFamily="34" charset="0"/>
              </a:rPr>
              <a:t>6.6 Feature Selection </a:t>
            </a:r>
          </a:p>
        </p:txBody>
      </p:sp>
    </p:spTree>
    <p:extLst>
      <p:ext uri="{BB962C8B-B14F-4D97-AF65-F5344CB8AC3E}">
        <p14:creationId xmlns:p14="http://schemas.microsoft.com/office/powerpoint/2010/main" val="750300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AD3DE1-0DEA-D0CB-32C5-D6EE783B93A0}"/>
              </a:ext>
            </a:extLst>
          </p:cNvPr>
          <p:cNvSpPr>
            <a:spLocks noGrp="1"/>
          </p:cNvSpPr>
          <p:nvPr>
            <p:ph idx="1"/>
          </p:nvPr>
        </p:nvSpPr>
        <p:spPr/>
        <p:txBody>
          <a:bodyPr/>
          <a:lstStyle/>
          <a:p>
            <a:r>
              <a:rPr lang="en-US" dirty="0">
                <a:latin typeface="Arial Rounded MT Bold" panose="020F0704030504030204" pitchFamily="34" charset="0"/>
              </a:rPr>
              <a:t>6.7 Splitting Features and Target </a:t>
            </a:r>
          </a:p>
          <a:p>
            <a:r>
              <a:rPr lang="en-IN" dirty="0">
                <a:latin typeface="Arial Rounded MT Bold" panose="020F0704030504030204" pitchFamily="34" charset="0"/>
              </a:rPr>
              <a:t>6.8 Feature Scaling </a:t>
            </a:r>
          </a:p>
        </p:txBody>
      </p:sp>
    </p:spTree>
    <p:extLst>
      <p:ext uri="{BB962C8B-B14F-4D97-AF65-F5344CB8AC3E}">
        <p14:creationId xmlns:p14="http://schemas.microsoft.com/office/powerpoint/2010/main" val="3234381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D6FB0-8D67-71C0-7D19-2CBE2942CF02}"/>
              </a:ext>
            </a:extLst>
          </p:cNvPr>
          <p:cNvSpPr>
            <a:spLocks noGrp="1"/>
          </p:cNvSpPr>
          <p:nvPr>
            <p:ph type="title"/>
          </p:nvPr>
        </p:nvSpPr>
        <p:spPr/>
        <p:txBody>
          <a:bodyPr/>
          <a:lstStyle/>
          <a:p>
            <a:r>
              <a:rPr lang="en-IN" dirty="0"/>
              <a:t>. Exploratory Data Analysis (EDA) </a:t>
            </a:r>
          </a:p>
        </p:txBody>
      </p:sp>
      <p:sp>
        <p:nvSpPr>
          <p:cNvPr id="3" name="Content Placeholder 2">
            <a:extLst>
              <a:ext uri="{FF2B5EF4-FFF2-40B4-BE49-F238E27FC236}">
                <a16:creationId xmlns:a16="http://schemas.microsoft.com/office/drawing/2014/main" id="{8913B63E-9A95-24C1-59A4-1A7F98AD96D9}"/>
              </a:ext>
            </a:extLst>
          </p:cNvPr>
          <p:cNvSpPr>
            <a:spLocks noGrp="1"/>
          </p:cNvSpPr>
          <p:nvPr>
            <p:ph idx="1"/>
          </p:nvPr>
        </p:nvSpPr>
        <p:spPr/>
        <p:txBody>
          <a:bodyPr/>
          <a:lstStyle/>
          <a:p>
            <a:r>
              <a:rPr lang="en-IN" dirty="0">
                <a:latin typeface="Arial Rounded MT Bold" panose="020F0704030504030204" pitchFamily="34" charset="0"/>
              </a:rPr>
              <a:t>7.1 Count Plot </a:t>
            </a:r>
          </a:p>
          <a:p>
            <a:r>
              <a:rPr lang="en-IN" dirty="0">
                <a:latin typeface="Arial Rounded MT Bold" panose="020F0704030504030204" pitchFamily="34" charset="0"/>
              </a:rPr>
              <a:t>7.2 Histogram Analysis :</a:t>
            </a:r>
          </a:p>
          <a:p>
            <a:pPr marL="0" indent="0">
              <a:buNone/>
            </a:pPr>
            <a:r>
              <a:rPr lang="en-IN" dirty="0"/>
              <a:t>Annual Income Distribution </a:t>
            </a:r>
          </a:p>
          <a:p>
            <a:pPr marL="0" indent="0">
              <a:buNone/>
            </a:pPr>
            <a:r>
              <a:rPr lang="en-IN" dirty="0"/>
              <a:t>Loan Amount Distribution </a:t>
            </a:r>
          </a:p>
          <a:p>
            <a:pPr marL="0" indent="0">
              <a:buNone/>
            </a:pPr>
            <a:r>
              <a:rPr lang="en-IN" dirty="0"/>
              <a:t>CIBIL Score Distribution </a:t>
            </a:r>
          </a:p>
          <a:p>
            <a:r>
              <a:rPr lang="en-IN" dirty="0">
                <a:latin typeface="Arial Rounded MT Bold" panose="020F0704030504030204" pitchFamily="34" charset="0"/>
              </a:rPr>
              <a:t>7.3 Correlation Heatmap</a:t>
            </a:r>
          </a:p>
          <a:p>
            <a:r>
              <a:rPr lang="en-IN" dirty="0">
                <a:latin typeface="Arial Rounded MT Bold" panose="020F0704030504030204" pitchFamily="34" charset="0"/>
              </a:rPr>
              <a:t>7.4 Box Plot </a:t>
            </a:r>
          </a:p>
          <a:p>
            <a:endParaRPr lang="en-IN" dirty="0"/>
          </a:p>
          <a:p>
            <a:pPr marL="0" indent="0">
              <a:buNone/>
            </a:pPr>
            <a:endParaRPr lang="en-IN" dirty="0"/>
          </a:p>
          <a:p>
            <a:pPr marL="0" indent="0">
              <a:buNone/>
            </a:pPr>
            <a:endParaRPr lang="en-IN" dirty="0"/>
          </a:p>
          <a:p>
            <a:pPr marL="0" indent="0">
              <a:buNone/>
            </a:pPr>
            <a:endParaRPr lang="en-IN" dirty="0"/>
          </a:p>
          <a:p>
            <a:endParaRPr lang="en-IN" dirty="0"/>
          </a:p>
        </p:txBody>
      </p:sp>
    </p:spTree>
    <p:extLst>
      <p:ext uri="{BB962C8B-B14F-4D97-AF65-F5344CB8AC3E}">
        <p14:creationId xmlns:p14="http://schemas.microsoft.com/office/powerpoint/2010/main" val="3630583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B0AB0F-7DC3-B035-EEE2-1804F6E2AE97}"/>
              </a:ext>
            </a:extLst>
          </p:cNvPr>
          <p:cNvSpPr>
            <a:spLocks noGrp="1"/>
          </p:cNvSpPr>
          <p:nvPr>
            <p:ph idx="1"/>
          </p:nvPr>
        </p:nvSpPr>
        <p:spPr/>
        <p:txBody>
          <a:bodyPr/>
          <a:lstStyle/>
          <a:p>
            <a:r>
              <a:rPr lang="en-IN" b="1" dirty="0"/>
              <a:t>7.5 Scatter Plot </a:t>
            </a:r>
          </a:p>
          <a:p>
            <a:pPr marL="0" indent="0">
              <a:buNone/>
            </a:pPr>
            <a:r>
              <a:rPr lang="en-IN" dirty="0"/>
              <a:t>Income vs Loan Amount</a:t>
            </a:r>
          </a:p>
          <a:p>
            <a:pPr marL="0" indent="0">
              <a:buNone/>
            </a:pPr>
            <a:r>
              <a:rPr lang="en-US" dirty="0"/>
              <a:t>CIBIL Score vs Loan Amount </a:t>
            </a:r>
          </a:p>
          <a:p>
            <a:pPr marL="0" indent="0">
              <a:buNone/>
            </a:pPr>
            <a:r>
              <a:rPr lang="en-US" dirty="0"/>
              <a:t>CIBIL Score vs Income vs Loan Status</a:t>
            </a:r>
            <a:endParaRPr lang="en-IN" dirty="0"/>
          </a:p>
        </p:txBody>
      </p:sp>
    </p:spTree>
    <p:extLst>
      <p:ext uri="{BB962C8B-B14F-4D97-AF65-F5344CB8AC3E}">
        <p14:creationId xmlns:p14="http://schemas.microsoft.com/office/powerpoint/2010/main" val="50021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6344E-FE1D-31E6-1A93-8488969FFCE6}"/>
              </a:ext>
            </a:extLst>
          </p:cNvPr>
          <p:cNvSpPr>
            <a:spLocks noGrp="1"/>
          </p:cNvSpPr>
          <p:nvPr>
            <p:ph type="title"/>
          </p:nvPr>
        </p:nvSpPr>
        <p:spPr/>
        <p:txBody>
          <a:bodyPr/>
          <a:lstStyle/>
          <a:p>
            <a:r>
              <a:rPr lang="en-US" dirty="0"/>
              <a:t>8. Machine Learning Models Used :</a:t>
            </a:r>
            <a:endParaRPr lang="en-IN" dirty="0"/>
          </a:p>
        </p:txBody>
      </p:sp>
      <p:sp>
        <p:nvSpPr>
          <p:cNvPr id="3" name="Content Placeholder 2">
            <a:extLst>
              <a:ext uri="{FF2B5EF4-FFF2-40B4-BE49-F238E27FC236}">
                <a16:creationId xmlns:a16="http://schemas.microsoft.com/office/drawing/2014/main" id="{BB1D5E3D-31EE-2CFC-36A2-D66CA9FCB87E}"/>
              </a:ext>
            </a:extLst>
          </p:cNvPr>
          <p:cNvSpPr>
            <a:spLocks noGrp="1"/>
          </p:cNvSpPr>
          <p:nvPr>
            <p:ph idx="1"/>
          </p:nvPr>
        </p:nvSpPr>
        <p:spPr/>
        <p:txBody>
          <a:bodyPr/>
          <a:lstStyle/>
          <a:p>
            <a:r>
              <a:rPr lang="en-IN" dirty="0"/>
              <a:t>8.</a:t>
            </a:r>
            <a:r>
              <a:rPr lang="en-IN" dirty="0">
                <a:latin typeface="Arial Rounded MT Bold" panose="020F0704030504030204" pitchFamily="34" charset="0"/>
              </a:rPr>
              <a:t>1 Logistic Regression </a:t>
            </a:r>
          </a:p>
          <a:p>
            <a:pPr marL="0" indent="0">
              <a:buNone/>
            </a:pPr>
            <a:endParaRPr lang="en-IN" dirty="0">
              <a:latin typeface="Arial Rounded MT Bold" panose="020F0704030504030204" pitchFamily="34" charset="0"/>
            </a:endParaRPr>
          </a:p>
          <a:p>
            <a:r>
              <a:rPr lang="en-US" dirty="0"/>
              <a:t>Workflow</a:t>
            </a:r>
          </a:p>
          <a:p>
            <a:pPr marL="0" indent="0">
              <a:buNone/>
            </a:pPr>
            <a:r>
              <a:rPr lang="en-US" dirty="0"/>
              <a:t> 1. Train the model</a:t>
            </a:r>
          </a:p>
          <a:p>
            <a:pPr marL="0" indent="0">
              <a:buNone/>
            </a:pPr>
            <a:r>
              <a:rPr lang="en-US" dirty="0"/>
              <a:t> 2. Predict loan status </a:t>
            </a:r>
          </a:p>
          <a:p>
            <a:pPr marL="0" indent="0">
              <a:buNone/>
            </a:pPr>
            <a:r>
              <a:rPr lang="en-US" dirty="0"/>
              <a:t>3. Compare predictions with actual values </a:t>
            </a:r>
          </a:p>
          <a:p>
            <a:pPr marL="0" indent="0">
              <a:buNone/>
            </a:pPr>
            <a:r>
              <a:rPr lang="en-US" dirty="0"/>
              <a:t>4. Evaluate performance </a:t>
            </a:r>
          </a:p>
          <a:p>
            <a:pPr marL="0" indent="0">
              <a:buNone/>
            </a:pPr>
            <a:r>
              <a:rPr lang="en-US" dirty="0">
                <a:latin typeface="Arial Rounded MT Bold" panose="020F0704030504030204" pitchFamily="34" charset="0"/>
              </a:rPr>
              <a:t>Logistic Regression achieved Accuracy = 90.5% </a:t>
            </a:r>
            <a:endParaRPr lang="en-IN" dirty="0">
              <a:latin typeface="Arial Rounded MT Bold" panose="020F0704030504030204" pitchFamily="34" charset="0"/>
            </a:endParaRPr>
          </a:p>
          <a:p>
            <a:pPr marL="0" indent="0">
              <a:buNone/>
            </a:pPr>
            <a:endParaRPr lang="en-IN" dirty="0"/>
          </a:p>
        </p:txBody>
      </p:sp>
    </p:spTree>
    <p:extLst>
      <p:ext uri="{BB962C8B-B14F-4D97-AF65-F5344CB8AC3E}">
        <p14:creationId xmlns:p14="http://schemas.microsoft.com/office/powerpoint/2010/main" val="1737189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EEF3-C24D-E0A8-C1B7-A136ACF22D70}"/>
              </a:ext>
            </a:extLst>
          </p:cNvPr>
          <p:cNvSpPr>
            <a:spLocks noGrp="1"/>
          </p:cNvSpPr>
          <p:nvPr>
            <p:ph type="title"/>
          </p:nvPr>
        </p:nvSpPr>
        <p:spPr/>
        <p:txBody>
          <a:bodyPr/>
          <a:lstStyle/>
          <a:p>
            <a:r>
              <a:rPr lang="en-IN" dirty="0"/>
              <a:t>.</a:t>
            </a:r>
          </a:p>
        </p:txBody>
      </p:sp>
      <p:sp>
        <p:nvSpPr>
          <p:cNvPr id="3" name="Content Placeholder 2">
            <a:extLst>
              <a:ext uri="{FF2B5EF4-FFF2-40B4-BE49-F238E27FC236}">
                <a16:creationId xmlns:a16="http://schemas.microsoft.com/office/drawing/2014/main" id="{F08477D5-AF67-7370-BE6A-F96AE109E165}"/>
              </a:ext>
            </a:extLst>
          </p:cNvPr>
          <p:cNvSpPr>
            <a:spLocks noGrp="1"/>
          </p:cNvSpPr>
          <p:nvPr>
            <p:ph idx="1"/>
          </p:nvPr>
        </p:nvSpPr>
        <p:spPr/>
        <p:txBody>
          <a:bodyPr/>
          <a:lstStyle/>
          <a:p>
            <a:r>
              <a:rPr lang="en-IN" dirty="0"/>
              <a:t>.</a:t>
            </a:r>
            <a:r>
              <a:rPr lang="en-IN" dirty="0">
                <a:latin typeface="Arial Rounded MT Bold" panose="020F0704030504030204" pitchFamily="34" charset="0"/>
              </a:rPr>
              <a:t>2 Decision Tree Classifier :</a:t>
            </a:r>
          </a:p>
          <a:p>
            <a:r>
              <a:rPr lang="en-US" dirty="0"/>
              <a:t>Workflow :</a:t>
            </a:r>
          </a:p>
          <a:p>
            <a:pPr>
              <a:buAutoNum type="arabicPeriod"/>
            </a:pPr>
            <a:r>
              <a:rPr lang="en-US" dirty="0"/>
              <a:t>Train Decision Tree model </a:t>
            </a:r>
          </a:p>
          <a:p>
            <a:pPr>
              <a:buAutoNum type="arabicPeriod"/>
            </a:pPr>
            <a:r>
              <a:rPr lang="en-US" dirty="0"/>
              <a:t>2. Generate predictions </a:t>
            </a:r>
          </a:p>
          <a:p>
            <a:pPr>
              <a:buAutoNum type="arabicPeriod"/>
            </a:pPr>
            <a:r>
              <a:rPr lang="en-US" dirty="0"/>
              <a:t>3. Evaluate performance </a:t>
            </a:r>
          </a:p>
          <a:p>
            <a:pPr>
              <a:buAutoNum type="arabicPeriod"/>
            </a:pPr>
            <a:endParaRPr lang="en-US" dirty="0"/>
          </a:p>
          <a:p>
            <a:pPr>
              <a:buAutoNum type="arabicPeriod"/>
            </a:pPr>
            <a:endParaRPr lang="en-US" dirty="0"/>
          </a:p>
          <a:p>
            <a:pPr marL="0" indent="0">
              <a:buNone/>
            </a:pPr>
            <a:r>
              <a:rPr lang="en-US" dirty="0">
                <a:latin typeface="Arial Rounded MT Bold" panose="020F0704030504030204" pitchFamily="34" charset="0"/>
              </a:rPr>
              <a:t>Decision Tree Achieved accuracy   : 97.5% </a:t>
            </a:r>
            <a:endParaRPr lang="en-IN" dirty="0">
              <a:latin typeface="Arial Rounded MT Bold" panose="020F0704030504030204" pitchFamily="34" charset="0"/>
            </a:endParaRPr>
          </a:p>
          <a:p>
            <a:endParaRPr lang="en-IN" dirty="0"/>
          </a:p>
        </p:txBody>
      </p:sp>
    </p:spTree>
    <p:extLst>
      <p:ext uri="{BB962C8B-B14F-4D97-AF65-F5344CB8AC3E}">
        <p14:creationId xmlns:p14="http://schemas.microsoft.com/office/powerpoint/2010/main" val="2246401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67BA44-7F20-C26D-3472-BEB4935FA6AD}"/>
              </a:ext>
            </a:extLst>
          </p:cNvPr>
          <p:cNvSpPr>
            <a:spLocks noGrp="1"/>
          </p:cNvSpPr>
          <p:nvPr>
            <p:ph idx="1"/>
          </p:nvPr>
        </p:nvSpPr>
        <p:spPr/>
        <p:txBody>
          <a:bodyPr/>
          <a:lstStyle/>
          <a:p>
            <a:r>
              <a:rPr lang="en-IN" dirty="0">
                <a:latin typeface="Arial Rounded MT Bold" panose="020F0704030504030204" pitchFamily="34" charset="0"/>
              </a:rPr>
              <a:t>8.3 Random Forest Classifier </a:t>
            </a:r>
          </a:p>
          <a:p>
            <a:r>
              <a:rPr lang="en-US" dirty="0"/>
              <a:t>Workflow</a:t>
            </a:r>
          </a:p>
          <a:p>
            <a:pPr marL="0" indent="0">
              <a:buNone/>
            </a:pPr>
            <a:r>
              <a:rPr lang="en-US" dirty="0"/>
              <a:t> 1. Train Random Forest model</a:t>
            </a:r>
          </a:p>
          <a:p>
            <a:pPr marL="0" indent="0">
              <a:buNone/>
            </a:pPr>
            <a:r>
              <a:rPr lang="en-US" dirty="0"/>
              <a:t> 2. Predict test data</a:t>
            </a:r>
          </a:p>
          <a:p>
            <a:pPr marL="0" indent="0">
              <a:buNone/>
            </a:pPr>
            <a:r>
              <a:rPr lang="en-US" dirty="0"/>
              <a:t> 3. Evaluate results</a:t>
            </a:r>
          </a:p>
          <a:p>
            <a:pPr marL="0" indent="0">
              <a:buNone/>
            </a:pPr>
            <a:r>
              <a:rPr lang="en-US" dirty="0">
                <a:latin typeface="Arial Rounded MT Bold" panose="020F0704030504030204" pitchFamily="34" charset="0"/>
              </a:rPr>
              <a:t> Random Forest achieved Accuracy : 98.1%</a:t>
            </a:r>
            <a:endParaRPr lang="en-IN" dirty="0">
              <a:latin typeface="Arial Rounded MT Bold" panose="020F0704030504030204" pitchFamily="34" charset="0"/>
            </a:endParaRPr>
          </a:p>
        </p:txBody>
      </p:sp>
    </p:spTree>
    <p:extLst>
      <p:ext uri="{BB962C8B-B14F-4D97-AF65-F5344CB8AC3E}">
        <p14:creationId xmlns:p14="http://schemas.microsoft.com/office/powerpoint/2010/main" val="2081713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83DA1-5E3C-74A7-3AAD-75DCA3B14686}"/>
              </a:ext>
            </a:extLst>
          </p:cNvPr>
          <p:cNvSpPr>
            <a:spLocks noGrp="1"/>
          </p:cNvSpPr>
          <p:nvPr>
            <p:ph type="title"/>
          </p:nvPr>
        </p:nvSpPr>
        <p:spPr/>
        <p:txBody>
          <a:bodyPr/>
          <a:lstStyle/>
          <a:p>
            <a:r>
              <a:rPr lang="en-IN" dirty="0"/>
              <a:t>9. Model Evaluation </a:t>
            </a:r>
          </a:p>
        </p:txBody>
      </p:sp>
      <p:sp>
        <p:nvSpPr>
          <p:cNvPr id="3" name="Content Placeholder 2">
            <a:extLst>
              <a:ext uri="{FF2B5EF4-FFF2-40B4-BE49-F238E27FC236}">
                <a16:creationId xmlns:a16="http://schemas.microsoft.com/office/drawing/2014/main" id="{87AF4217-FC9D-8239-E5E1-9AE71D25553E}"/>
              </a:ext>
            </a:extLst>
          </p:cNvPr>
          <p:cNvSpPr>
            <a:spLocks noGrp="1"/>
          </p:cNvSpPr>
          <p:nvPr>
            <p:ph idx="1"/>
          </p:nvPr>
        </p:nvSpPr>
        <p:spPr>
          <a:xfrm>
            <a:off x="1154954" y="2261418"/>
            <a:ext cx="10142311" cy="4857136"/>
          </a:xfrm>
        </p:spPr>
        <p:txBody>
          <a:bodyPr>
            <a:normAutofit/>
          </a:bodyPr>
          <a:lstStyle/>
          <a:p>
            <a:r>
              <a:rPr lang="en-US" dirty="0">
                <a:latin typeface="Arial Rounded MT Bold" panose="020F0704030504030204" pitchFamily="34" charset="0"/>
              </a:rPr>
              <a:t>9.1 Evaluation Metrics Used</a:t>
            </a:r>
          </a:p>
          <a:p>
            <a:r>
              <a:rPr lang="en-US" dirty="0"/>
              <a:t> </a:t>
            </a:r>
            <a:r>
              <a:rPr lang="en-US" dirty="0">
                <a:latin typeface="Arial Rounded MT Bold" panose="020F0704030504030204" pitchFamily="34" charset="0"/>
              </a:rPr>
              <a:t>Accuracy</a:t>
            </a:r>
          </a:p>
          <a:p>
            <a:pPr marL="0" indent="0">
              <a:buNone/>
            </a:pPr>
            <a:r>
              <a:rPr lang="en-US" dirty="0"/>
              <a:t> Measures overall correctness of predictions</a:t>
            </a:r>
          </a:p>
          <a:p>
            <a:r>
              <a:rPr lang="en-US" dirty="0">
                <a:latin typeface="Arial Rounded MT Bold" panose="020F0704030504030204" pitchFamily="34" charset="0"/>
              </a:rPr>
              <a:t>Precision Measures</a:t>
            </a:r>
          </a:p>
          <a:p>
            <a:pPr marL="0" indent="0">
              <a:buNone/>
            </a:pPr>
            <a:r>
              <a:rPr lang="en-US" dirty="0"/>
              <a:t> how many predicted approvals were actually correct. </a:t>
            </a:r>
          </a:p>
          <a:p>
            <a:r>
              <a:rPr lang="en-US" dirty="0">
                <a:latin typeface="Arial Rounded MT Bold" panose="020F0704030504030204" pitchFamily="34" charset="0"/>
              </a:rPr>
              <a:t>Recall Measures </a:t>
            </a:r>
          </a:p>
          <a:p>
            <a:pPr marL="0" indent="0">
              <a:buNone/>
            </a:pPr>
            <a:r>
              <a:rPr lang="en-US" dirty="0"/>
              <a:t>how many actual approvals were identified correctly. </a:t>
            </a:r>
          </a:p>
          <a:p>
            <a:r>
              <a:rPr lang="en-US" dirty="0">
                <a:latin typeface="Arial Rounded MT Bold" panose="020F0704030504030204" pitchFamily="34" charset="0"/>
              </a:rPr>
              <a:t>F1-Score</a:t>
            </a:r>
          </a:p>
          <a:p>
            <a:pPr marL="0" indent="0">
              <a:buNone/>
            </a:pPr>
            <a:r>
              <a:rPr lang="en-US" dirty="0"/>
              <a:t> Harmonic mean of precision and recall.</a:t>
            </a:r>
          </a:p>
          <a:p>
            <a:r>
              <a:rPr lang="en-US" dirty="0"/>
              <a:t> </a:t>
            </a:r>
            <a:r>
              <a:rPr lang="en-US" dirty="0">
                <a:latin typeface="Arial Rounded MT Bold" panose="020F0704030504030204" pitchFamily="34" charset="0"/>
              </a:rPr>
              <a:t>Confusion Matrix Shows</a:t>
            </a:r>
          </a:p>
          <a:p>
            <a:pPr marL="0" indent="0">
              <a:buNone/>
            </a:pPr>
            <a:r>
              <a:rPr lang="en-US" dirty="0"/>
              <a:t>: • True Positives • True Negatives • False Positives • False Negatives</a:t>
            </a:r>
            <a:endParaRPr lang="en-IN" dirty="0"/>
          </a:p>
        </p:txBody>
      </p:sp>
    </p:spTree>
    <p:extLst>
      <p:ext uri="{BB962C8B-B14F-4D97-AF65-F5344CB8AC3E}">
        <p14:creationId xmlns:p14="http://schemas.microsoft.com/office/powerpoint/2010/main" val="2878396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2413-F8B1-74E5-97D2-BA497055DA58}"/>
              </a:ext>
            </a:extLst>
          </p:cNvPr>
          <p:cNvSpPr>
            <a:spLocks noGrp="1"/>
          </p:cNvSpPr>
          <p:nvPr>
            <p:ph type="title"/>
          </p:nvPr>
        </p:nvSpPr>
        <p:spPr/>
        <p:txBody>
          <a:bodyPr/>
          <a:lstStyle/>
          <a:p>
            <a:r>
              <a:rPr lang="en-US" dirty="0"/>
              <a:t>Models and values :</a:t>
            </a:r>
            <a:endParaRPr lang="en-IN" dirty="0"/>
          </a:p>
        </p:txBody>
      </p:sp>
      <p:sp>
        <p:nvSpPr>
          <p:cNvPr id="3" name="Text Placeholder 2">
            <a:extLst>
              <a:ext uri="{FF2B5EF4-FFF2-40B4-BE49-F238E27FC236}">
                <a16:creationId xmlns:a16="http://schemas.microsoft.com/office/drawing/2014/main" id="{DAB890F5-478A-3DBD-141F-F1D92956AA7F}"/>
              </a:ext>
            </a:extLst>
          </p:cNvPr>
          <p:cNvSpPr>
            <a:spLocks noGrp="1"/>
          </p:cNvSpPr>
          <p:nvPr>
            <p:ph type="body" idx="1"/>
          </p:nvPr>
        </p:nvSpPr>
        <p:spPr/>
        <p:txBody>
          <a:bodyPr/>
          <a:lstStyle/>
          <a:p>
            <a:r>
              <a:rPr lang="en-IN" dirty="0">
                <a:solidFill>
                  <a:schemeClr val="tx1"/>
                </a:solidFill>
              </a:rPr>
              <a:t>Logistic Regression</a:t>
            </a:r>
          </a:p>
        </p:txBody>
      </p:sp>
      <p:sp>
        <p:nvSpPr>
          <p:cNvPr id="4" name="Text Placeholder 3">
            <a:extLst>
              <a:ext uri="{FF2B5EF4-FFF2-40B4-BE49-F238E27FC236}">
                <a16:creationId xmlns:a16="http://schemas.microsoft.com/office/drawing/2014/main" id="{B1FAB6CB-D727-9F08-1F88-4A03D177086A}"/>
              </a:ext>
            </a:extLst>
          </p:cNvPr>
          <p:cNvSpPr>
            <a:spLocks noGrp="1"/>
          </p:cNvSpPr>
          <p:nvPr>
            <p:ph type="body" sz="half" idx="15"/>
          </p:nvPr>
        </p:nvSpPr>
        <p:spPr/>
        <p:txBody>
          <a:bodyPr/>
          <a:lstStyle/>
          <a:p>
            <a:r>
              <a:rPr lang="fr-FR" dirty="0" err="1">
                <a:latin typeface="Arial Rounded MT Bold" panose="020F0704030504030204" pitchFamily="34" charset="0"/>
              </a:rPr>
              <a:t>Accuracy</a:t>
            </a:r>
            <a:r>
              <a:rPr lang="fr-FR" dirty="0">
                <a:latin typeface="Arial Rounded MT Bold" panose="020F0704030504030204" pitchFamily="34" charset="0"/>
              </a:rPr>
              <a:t> 90.5%</a:t>
            </a:r>
          </a:p>
          <a:p>
            <a:r>
              <a:rPr lang="fr-FR" dirty="0">
                <a:latin typeface="Arial Rounded MT Bold" panose="020F0704030504030204" pitchFamily="34" charset="0"/>
              </a:rPr>
              <a:t> Confusion Matrix [[498 38]</a:t>
            </a:r>
          </a:p>
          <a:p>
            <a:r>
              <a:rPr lang="fr-FR" dirty="0">
                <a:latin typeface="Arial Rounded MT Bold" panose="020F0704030504030204" pitchFamily="34" charset="0"/>
              </a:rPr>
              <a:t> [43 275]]</a:t>
            </a:r>
            <a:endParaRPr lang="en-IN" dirty="0">
              <a:latin typeface="Arial Rounded MT Bold" panose="020F0704030504030204" pitchFamily="34" charset="0"/>
            </a:endParaRPr>
          </a:p>
        </p:txBody>
      </p:sp>
      <p:sp>
        <p:nvSpPr>
          <p:cNvPr id="5" name="Text Placeholder 4">
            <a:extLst>
              <a:ext uri="{FF2B5EF4-FFF2-40B4-BE49-F238E27FC236}">
                <a16:creationId xmlns:a16="http://schemas.microsoft.com/office/drawing/2014/main" id="{721B3A8D-23E4-0C2F-18BB-29A103588A35}"/>
              </a:ext>
            </a:extLst>
          </p:cNvPr>
          <p:cNvSpPr>
            <a:spLocks noGrp="1"/>
          </p:cNvSpPr>
          <p:nvPr>
            <p:ph type="body" sz="quarter" idx="3"/>
          </p:nvPr>
        </p:nvSpPr>
        <p:spPr/>
        <p:txBody>
          <a:bodyPr/>
          <a:lstStyle/>
          <a:p>
            <a:r>
              <a:rPr lang="en-IN" dirty="0">
                <a:solidFill>
                  <a:schemeClr val="tx1"/>
                </a:solidFill>
              </a:rPr>
              <a:t>Random Forest </a:t>
            </a:r>
          </a:p>
        </p:txBody>
      </p:sp>
      <p:sp>
        <p:nvSpPr>
          <p:cNvPr id="6" name="Text Placeholder 5">
            <a:extLst>
              <a:ext uri="{FF2B5EF4-FFF2-40B4-BE49-F238E27FC236}">
                <a16:creationId xmlns:a16="http://schemas.microsoft.com/office/drawing/2014/main" id="{B1FB4C93-95ED-454F-54B4-412B40D4F264}"/>
              </a:ext>
            </a:extLst>
          </p:cNvPr>
          <p:cNvSpPr>
            <a:spLocks noGrp="1"/>
          </p:cNvSpPr>
          <p:nvPr>
            <p:ph type="body" sz="half" idx="16"/>
          </p:nvPr>
        </p:nvSpPr>
        <p:spPr/>
        <p:txBody>
          <a:bodyPr/>
          <a:lstStyle/>
          <a:p>
            <a:r>
              <a:rPr lang="fr-FR" dirty="0" err="1">
                <a:latin typeface="Arial Rounded MT Bold" panose="020F0704030504030204" pitchFamily="34" charset="0"/>
              </a:rPr>
              <a:t>Accuracy</a:t>
            </a:r>
            <a:r>
              <a:rPr lang="fr-FR" dirty="0">
                <a:latin typeface="Arial Rounded MT Bold" panose="020F0704030504030204" pitchFamily="34" charset="0"/>
              </a:rPr>
              <a:t> 98.1% </a:t>
            </a:r>
          </a:p>
          <a:p>
            <a:r>
              <a:rPr lang="fr-FR" dirty="0">
                <a:latin typeface="Arial Rounded MT Bold" panose="020F0704030504030204" pitchFamily="34" charset="0"/>
              </a:rPr>
              <a:t>Confusion Matrix [[530 16] [ 6 302]]</a:t>
            </a:r>
            <a:endParaRPr lang="en-IN" dirty="0">
              <a:latin typeface="Arial Rounded MT Bold" panose="020F0704030504030204" pitchFamily="34" charset="0"/>
            </a:endParaRPr>
          </a:p>
        </p:txBody>
      </p:sp>
      <p:sp>
        <p:nvSpPr>
          <p:cNvPr id="7" name="Text Placeholder 6">
            <a:extLst>
              <a:ext uri="{FF2B5EF4-FFF2-40B4-BE49-F238E27FC236}">
                <a16:creationId xmlns:a16="http://schemas.microsoft.com/office/drawing/2014/main" id="{C142E1D4-BA29-61FA-29F9-946BF7029A19}"/>
              </a:ext>
            </a:extLst>
          </p:cNvPr>
          <p:cNvSpPr>
            <a:spLocks noGrp="1"/>
          </p:cNvSpPr>
          <p:nvPr>
            <p:ph type="body" sz="quarter" idx="13"/>
          </p:nvPr>
        </p:nvSpPr>
        <p:spPr/>
        <p:txBody>
          <a:bodyPr/>
          <a:lstStyle/>
          <a:p>
            <a:r>
              <a:rPr lang="en-IN" dirty="0">
                <a:solidFill>
                  <a:schemeClr val="tx1"/>
                </a:solidFill>
              </a:rPr>
              <a:t>Decision Tree</a:t>
            </a:r>
          </a:p>
        </p:txBody>
      </p:sp>
      <p:sp>
        <p:nvSpPr>
          <p:cNvPr id="8" name="Text Placeholder 7">
            <a:extLst>
              <a:ext uri="{FF2B5EF4-FFF2-40B4-BE49-F238E27FC236}">
                <a16:creationId xmlns:a16="http://schemas.microsoft.com/office/drawing/2014/main" id="{C81460EB-833F-1316-1768-4CBF72C2BA4E}"/>
              </a:ext>
            </a:extLst>
          </p:cNvPr>
          <p:cNvSpPr>
            <a:spLocks noGrp="1"/>
          </p:cNvSpPr>
          <p:nvPr>
            <p:ph type="body" sz="half" idx="17"/>
          </p:nvPr>
        </p:nvSpPr>
        <p:spPr/>
        <p:txBody>
          <a:bodyPr/>
          <a:lstStyle/>
          <a:p>
            <a:r>
              <a:rPr lang="fr-FR" dirty="0" err="1">
                <a:latin typeface="Arial Rounded MT Bold" panose="020F0704030504030204" pitchFamily="34" charset="0"/>
              </a:rPr>
              <a:t>Acuracy</a:t>
            </a:r>
            <a:r>
              <a:rPr lang="fr-FR" dirty="0">
                <a:latin typeface="Arial Rounded MT Bold" panose="020F0704030504030204" pitchFamily="34" charset="0"/>
              </a:rPr>
              <a:t> 97.5% </a:t>
            </a:r>
          </a:p>
          <a:p>
            <a:r>
              <a:rPr lang="fr-FR" dirty="0">
                <a:latin typeface="Arial Rounded MT Bold" panose="020F0704030504030204" pitchFamily="34" charset="0"/>
              </a:rPr>
              <a:t>Confusion Matrix [[526 11] [10 307]]</a:t>
            </a:r>
            <a:endParaRPr lang="en-IN" dirty="0">
              <a:latin typeface="Arial Rounded MT Bold" panose="020F0704030504030204" pitchFamily="34" charset="0"/>
            </a:endParaRPr>
          </a:p>
        </p:txBody>
      </p:sp>
    </p:spTree>
    <p:extLst>
      <p:ext uri="{BB962C8B-B14F-4D97-AF65-F5344CB8AC3E}">
        <p14:creationId xmlns:p14="http://schemas.microsoft.com/office/powerpoint/2010/main" val="440310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31D86-131F-83C8-A175-C8E168833A1E}"/>
              </a:ext>
            </a:extLst>
          </p:cNvPr>
          <p:cNvSpPr>
            <a:spLocks noGrp="1"/>
          </p:cNvSpPr>
          <p:nvPr>
            <p:ph type="title"/>
          </p:nvPr>
        </p:nvSpPr>
        <p:spPr/>
        <p:txBody>
          <a:bodyPr/>
          <a:lstStyle/>
          <a:p>
            <a:r>
              <a:rPr lang="en-IN" dirty="0"/>
              <a:t>Model Comparison </a:t>
            </a:r>
          </a:p>
        </p:txBody>
      </p:sp>
    </p:spTree>
    <p:extLst>
      <p:ext uri="{BB962C8B-B14F-4D97-AF65-F5344CB8AC3E}">
        <p14:creationId xmlns:p14="http://schemas.microsoft.com/office/powerpoint/2010/main" val="1209096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36A8F-C0BB-ED66-AD21-847BB6A16427}"/>
              </a:ext>
            </a:extLst>
          </p:cNvPr>
          <p:cNvSpPr>
            <a:spLocks noGrp="1"/>
          </p:cNvSpPr>
          <p:nvPr>
            <p:ph type="title"/>
          </p:nvPr>
        </p:nvSpPr>
        <p:spPr/>
        <p:txBody>
          <a:bodyPr/>
          <a:lstStyle/>
          <a:p>
            <a:r>
              <a:rPr lang="en-IN" dirty="0"/>
              <a:t>Model Comparison </a:t>
            </a:r>
          </a:p>
        </p:txBody>
      </p:sp>
      <p:sp>
        <p:nvSpPr>
          <p:cNvPr id="3" name="Content Placeholder 2">
            <a:extLst>
              <a:ext uri="{FF2B5EF4-FFF2-40B4-BE49-F238E27FC236}">
                <a16:creationId xmlns:a16="http://schemas.microsoft.com/office/drawing/2014/main" id="{E0344ECF-B8FA-3E3D-29FD-CCAD82AA9AE9}"/>
              </a:ext>
            </a:extLst>
          </p:cNvPr>
          <p:cNvSpPr>
            <a:spLocks noGrp="1"/>
          </p:cNvSpPr>
          <p:nvPr>
            <p:ph idx="1"/>
          </p:nvPr>
        </p:nvSpPr>
        <p:spPr/>
        <p:txBody>
          <a:bodyPr/>
          <a:lstStyle/>
          <a:p>
            <a:r>
              <a:rPr lang="en-IN" dirty="0">
                <a:latin typeface="Arial Rounded MT Bold" panose="020F0704030504030204" pitchFamily="34" charset="0"/>
              </a:rPr>
              <a:t>Model                               Accuracy </a:t>
            </a:r>
          </a:p>
          <a:p>
            <a:pPr marL="0" indent="0">
              <a:buNone/>
            </a:pPr>
            <a:endParaRPr lang="en-IN" dirty="0"/>
          </a:p>
          <a:p>
            <a:r>
              <a:rPr lang="en-IN" dirty="0"/>
              <a:t> Logistic Regression   =        90.5%</a:t>
            </a:r>
          </a:p>
          <a:p>
            <a:r>
              <a:rPr lang="en-IN" dirty="0"/>
              <a:t> Decision Tree            =      97.5%  </a:t>
            </a:r>
          </a:p>
          <a:p>
            <a:r>
              <a:rPr lang="en-IN" dirty="0"/>
              <a:t>Random Forest          =     </a:t>
            </a:r>
            <a:r>
              <a:rPr lang="en-IN" dirty="0">
                <a:latin typeface="Arial Rounded MT Bold" panose="020F0704030504030204" pitchFamily="34" charset="0"/>
              </a:rPr>
              <a:t>98.1% </a:t>
            </a:r>
          </a:p>
          <a:p>
            <a:endParaRPr lang="en-IN" dirty="0">
              <a:latin typeface="Arial Rounded MT Bold" panose="020F0704030504030204" pitchFamily="34" charset="0"/>
            </a:endParaRPr>
          </a:p>
          <a:p>
            <a:r>
              <a:rPr lang="en-US" b="1" dirty="0"/>
              <a:t>Best Model is Random Forest Classifier it achieved the highest accuracy and best overall performance.</a:t>
            </a:r>
            <a:endParaRPr lang="en-IN" b="1" dirty="0">
              <a:latin typeface="Arial Rounded MT Bold" panose="020F0704030504030204" pitchFamily="34" charset="0"/>
            </a:endParaRPr>
          </a:p>
        </p:txBody>
      </p:sp>
    </p:spTree>
    <p:extLst>
      <p:ext uri="{BB962C8B-B14F-4D97-AF65-F5344CB8AC3E}">
        <p14:creationId xmlns:p14="http://schemas.microsoft.com/office/powerpoint/2010/main" val="1210156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17F67-C43D-4A43-7BA1-49B8B808988C}"/>
              </a:ext>
            </a:extLst>
          </p:cNvPr>
          <p:cNvSpPr>
            <a:spLocks noGrp="1"/>
          </p:cNvSpPr>
          <p:nvPr>
            <p:ph type="title"/>
          </p:nvPr>
        </p:nvSpPr>
        <p:spPr/>
        <p:txBody>
          <a:bodyPr/>
          <a:lstStyle/>
          <a:p>
            <a:r>
              <a:rPr lang="en-IN" dirty="0"/>
              <a:t>10. Prediction System </a:t>
            </a:r>
          </a:p>
        </p:txBody>
      </p:sp>
      <p:sp>
        <p:nvSpPr>
          <p:cNvPr id="3" name="Content Placeholder 2">
            <a:extLst>
              <a:ext uri="{FF2B5EF4-FFF2-40B4-BE49-F238E27FC236}">
                <a16:creationId xmlns:a16="http://schemas.microsoft.com/office/drawing/2014/main" id="{58139311-3DEF-9873-C8C7-B9AC05A5BD0E}"/>
              </a:ext>
            </a:extLst>
          </p:cNvPr>
          <p:cNvSpPr>
            <a:spLocks noGrp="1"/>
          </p:cNvSpPr>
          <p:nvPr>
            <p:ph idx="1"/>
          </p:nvPr>
        </p:nvSpPr>
        <p:spPr/>
        <p:txBody>
          <a:bodyPr/>
          <a:lstStyle/>
          <a:p>
            <a:r>
              <a:rPr lang="en-US" b="1" dirty="0"/>
              <a:t>• Takes applicant information as input.</a:t>
            </a:r>
          </a:p>
          <a:p>
            <a:r>
              <a:rPr lang="en-US" b="1" dirty="0"/>
              <a:t> • Scales the input using </a:t>
            </a:r>
            <a:r>
              <a:rPr lang="en-US" b="1" dirty="0" err="1"/>
              <a:t>StandardScaler</a:t>
            </a:r>
            <a:r>
              <a:rPr lang="en-US" b="1" dirty="0"/>
              <a:t>.</a:t>
            </a:r>
          </a:p>
          <a:p>
            <a:r>
              <a:rPr lang="en-US" b="1" dirty="0"/>
              <a:t> • Predicts loan approval status</a:t>
            </a:r>
          </a:p>
          <a:p>
            <a:r>
              <a:rPr lang="en-US" b="1" dirty="0"/>
              <a:t>.• Displays Loan Approved or Loan Rejected.</a:t>
            </a:r>
            <a:endParaRPr lang="en-IN" b="1" dirty="0"/>
          </a:p>
        </p:txBody>
      </p:sp>
    </p:spTree>
    <p:extLst>
      <p:ext uri="{BB962C8B-B14F-4D97-AF65-F5344CB8AC3E}">
        <p14:creationId xmlns:p14="http://schemas.microsoft.com/office/powerpoint/2010/main" val="2261259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C87D2-8EB6-9F72-746B-A148B39E34F8}"/>
              </a:ext>
            </a:extLst>
          </p:cNvPr>
          <p:cNvSpPr>
            <a:spLocks noGrp="1"/>
          </p:cNvSpPr>
          <p:nvPr>
            <p:ph type="title"/>
          </p:nvPr>
        </p:nvSpPr>
        <p:spPr/>
        <p:txBody>
          <a:bodyPr/>
          <a:lstStyle/>
          <a:p>
            <a:r>
              <a:rPr lang="en-IN" dirty="0"/>
              <a:t>11. Model Saving</a:t>
            </a:r>
          </a:p>
        </p:txBody>
      </p:sp>
      <p:sp>
        <p:nvSpPr>
          <p:cNvPr id="3" name="Content Placeholder 2">
            <a:extLst>
              <a:ext uri="{FF2B5EF4-FFF2-40B4-BE49-F238E27FC236}">
                <a16:creationId xmlns:a16="http://schemas.microsoft.com/office/drawing/2014/main" id="{C0CE8D7E-1180-37F0-266E-1C2DFD1C6BBA}"/>
              </a:ext>
            </a:extLst>
          </p:cNvPr>
          <p:cNvSpPr>
            <a:spLocks noGrp="1"/>
          </p:cNvSpPr>
          <p:nvPr>
            <p:ph idx="1"/>
          </p:nvPr>
        </p:nvSpPr>
        <p:spPr/>
        <p:txBody>
          <a:bodyPr/>
          <a:lstStyle/>
          <a:p>
            <a:r>
              <a:rPr lang="en-US" b="1" dirty="0"/>
              <a:t>The trained Random Forest model and scaler were saved using the Pickle library. </a:t>
            </a:r>
          </a:p>
          <a:p>
            <a:r>
              <a:rPr lang="en-US" b="1" dirty="0"/>
              <a:t>Files created: • </a:t>
            </a:r>
            <a:r>
              <a:rPr lang="en-US" b="1" dirty="0" err="1"/>
              <a:t>loan_model.pkl</a:t>
            </a:r>
            <a:r>
              <a:rPr lang="en-US" b="1" dirty="0"/>
              <a:t> </a:t>
            </a:r>
          </a:p>
          <a:p>
            <a:pPr marL="0" indent="0">
              <a:buNone/>
            </a:pPr>
            <a:r>
              <a:rPr lang="en-US" b="1" dirty="0"/>
              <a:t>                              • </a:t>
            </a:r>
            <a:r>
              <a:rPr lang="en-US" b="1" dirty="0" err="1"/>
              <a:t>scaler.pkl</a:t>
            </a:r>
            <a:r>
              <a:rPr lang="en-US" b="1" dirty="0"/>
              <a:t> </a:t>
            </a:r>
            <a:endParaRPr lang="en-IN" b="1" dirty="0"/>
          </a:p>
        </p:txBody>
      </p:sp>
    </p:spTree>
    <p:extLst>
      <p:ext uri="{BB962C8B-B14F-4D97-AF65-F5344CB8AC3E}">
        <p14:creationId xmlns:p14="http://schemas.microsoft.com/office/powerpoint/2010/main" val="2343572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40F4D-5F68-1F26-657C-59950C2E9926}"/>
              </a:ext>
            </a:extLst>
          </p:cNvPr>
          <p:cNvSpPr>
            <a:spLocks noGrp="1"/>
          </p:cNvSpPr>
          <p:nvPr>
            <p:ph type="title"/>
          </p:nvPr>
        </p:nvSpPr>
        <p:spPr/>
        <p:txBody>
          <a:bodyPr/>
          <a:lstStyle/>
          <a:p>
            <a:r>
              <a:rPr lang="en-IN" dirty="0"/>
              <a:t>14 .Conclusion </a:t>
            </a:r>
          </a:p>
        </p:txBody>
      </p:sp>
      <p:sp>
        <p:nvSpPr>
          <p:cNvPr id="3" name="Content Placeholder 2">
            <a:extLst>
              <a:ext uri="{FF2B5EF4-FFF2-40B4-BE49-F238E27FC236}">
                <a16:creationId xmlns:a16="http://schemas.microsoft.com/office/drawing/2014/main" id="{2E63801B-5F07-7689-1847-31A45A72C3E7}"/>
              </a:ext>
            </a:extLst>
          </p:cNvPr>
          <p:cNvSpPr>
            <a:spLocks noGrp="1"/>
          </p:cNvSpPr>
          <p:nvPr>
            <p:ph idx="1"/>
          </p:nvPr>
        </p:nvSpPr>
        <p:spPr/>
        <p:txBody>
          <a:bodyPr/>
          <a:lstStyle/>
          <a:p>
            <a:r>
              <a:rPr lang="en-US" b="1" dirty="0"/>
              <a:t>The Loan Approval Prediction project was successfully developed using machine learning techniques. Multiple machine learning algorithms including Logistic Regression,  Decision Tree, and Random Forest were implemented and compared. </a:t>
            </a:r>
          </a:p>
          <a:p>
            <a:r>
              <a:rPr lang="en-US" b="1" dirty="0"/>
              <a:t>Among all models, the Random Forest Classifier achieved the best performance with approximately 98% accuracy. The project demonstrated that features such as CIBIL score, annual income, loan amount, and asset values play a major role in loan approval prediction.</a:t>
            </a:r>
            <a:endParaRPr lang="en-IN" b="1" dirty="0"/>
          </a:p>
        </p:txBody>
      </p:sp>
    </p:spTree>
    <p:extLst>
      <p:ext uri="{BB962C8B-B14F-4D97-AF65-F5344CB8AC3E}">
        <p14:creationId xmlns:p14="http://schemas.microsoft.com/office/powerpoint/2010/main" val="31493355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{6FCD113B-4455-4001-BE46-BDEF71854385}TF229edf6a-8a49-49ee-a0a6-5037052947485fb3ca0c-bc27bf41d645</Template>
  <TotalTime>258</TotalTime>
  <Words>865</Words>
  <Application>Microsoft Office PowerPoint</Application>
  <PresentationFormat>Widescreen</PresentationFormat>
  <Paragraphs>145</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Arial Rounded MT Bold</vt:lpstr>
      <vt:lpstr>Calibri</vt:lpstr>
      <vt:lpstr>Century Gothic</vt:lpstr>
      <vt:lpstr>Wingdings 3</vt:lpstr>
      <vt:lpstr>Ion Boardroom</vt:lpstr>
      <vt:lpstr>Loan Approval Prediction Using Machine Learning:  </vt:lpstr>
      <vt:lpstr> Introduction</vt:lpstr>
      <vt:lpstr>2. Objectives:</vt:lpstr>
      <vt:lpstr>3 .System Requirements </vt:lpstr>
      <vt:lpstr>4. Dataset Description : </vt:lpstr>
      <vt:lpstr>5. Technologies Used </vt:lpstr>
      <vt:lpstr>6. Data Preprocessing </vt:lpstr>
      <vt:lpstr>PowerPoint Presentation</vt:lpstr>
      <vt:lpstr>. Exploratory Data Analysis (EDA) </vt:lpstr>
      <vt:lpstr>PowerPoint Presentation</vt:lpstr>
      <vt:lpstr>8. Machine Learning Models Used :</vt:lpstr>
      <vt:lpstr>.</vt:lpstr>
      <vt:lpstr>PowerPoint Presentation</vt:lpstr>
      <vt:lpstr>9. Model Evaluation </vt:lpstr>
      <vt:lpstr>Models and values :</vt:lpstr>
      <vt:lpstr>Model Comparison </vt:lpstr>
      <vt:lpstr>Model Comparison </vt:lpstr>
      <vt:lpstr>10. Prediction System </vt:lpstr>
      <vt:lpstr>11. Model Saving</vt:lpstr>
      <vt:lpstr>14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Alana Nabhan</dc:creator>
  <cp:lastModifiedBy>Alana Nabhan</cp:lastModifiedBy>
  <cp:revision>2</cp:revision>
  <dcterms:created xsi:type="dcterms:W3CDTF">2026-05-27T10:58:54Z</dcterms:created>
  <dcterms:modified xsi:type="dcterms:W3CDTF">2026-05-27T15:18:54Z</dcterms:modified>
</cp:coreProperties>
</file>